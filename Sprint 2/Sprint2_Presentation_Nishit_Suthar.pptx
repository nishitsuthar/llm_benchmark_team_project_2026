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34495E"/>
                </a:solidFill>
              </a:defRPr>
            </a:pPr>
            <a:r>
              <a:t>Sprint 2: LLM Benchmark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3498DB"/>
                </a:solidFill>
              </a:defRPr>
            </a:pPr>
            <a:r>
              <a:t>Format Comparison Study: CSV vs HTML vs JSON vs XML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7F8C8D"/>
                </a:solidFill>
              </a:defRPr>
            </a:pPr>
            <a:r>
              <a:t>Nishit Suthar</a:t>
            </a:r>
          </a:p>
          <a:p>
            <a:r>
              <a:t>May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66928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E74C3C"/>
                </a:solidFill>
              </a:defRPr>
            </a:pPr>
            <a:r>
              <a:t>🎯 Major Discovery: All Formats Converge to 80% in Individual Mode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34495E"/>
                </a:solidFill>
              </a:defRPr>
            </a:pPr>
            <a:r>
              <a:t>Methodology &amp; Key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2980B9"/>
                </a:solidFill>
              </a:defRPr>
            </a:pPr>
            <a:r>
              <a:t>1. Synthetic Data Generation (Local, NOT LLM-Generated)</a:t>
            </a:r>
          </a:p>
          <a:p>
            <a:pPr lvl="1">
              <a:spcAft>
                <a:spcPts val="400"/>
              </a:spcAft>
              <a:defRPr sz="1600"/>
            </a:pPr>
            <a:r>
              <a:t>   • Generated 32,550 music industry records using Python Faker library locally</a:t>
            </a:r>
          </a:p>
          <a:p>
            <a:pPr lvl="1">
              <a:spcAft>
                <a:spcPts val="1200"/>
              </a:spcAft>
              <a:defRPr sz="1600"/>
            </a:pPr>
            <a:r>
              <a:t>   • 11 relational tables with proper foreign key constraints and referential integrity</a:t>
            </a:r>
          </a:p>
          <a:p>
            <a:pPr>
              <a:spcAft>
                <a:spcPts val="800"/>
              </a:spcAft>
              <a:defRPr sz="2200" b="1">
                <a:solidFill>
                  <a:srgbClr val="E67E22"/>
                </a:solidFill>
              </a:defRPr>
            </a:pPr>
            <a:r>
              <a:t>2. Strategic Data Degradation for Testing</a:t>
            </a:r>
          </a:p>
          <a:p>
            <a:pPr lvl="1">
              <a:spcAft>
                <a:spcPts val="400"/>
              </a:spcAft>
              <a:defRPr sz="1600"/>
            </a:pPr>
            <a:r>
              <a:t>   • Sampled to 567 records (2.1%) to test LLM behavior with limited data</a:t>
            </a:r>
          </a:p>
          <a:p>
            <a:pPr lvl="1">
              <a:spcAft>
                <a:spcPts val="400"/>
              </a:spcAft>
              <a:defRPr sz="1600"/>
            </a:pPr>
            <a:r>
              <a:t>   • Intentionally kept stale metadata (albums.total_tracks = 12-16 from full dataset)</a:t>
            </a:r>
          </a:p>
          <a:p>
            <a:pPr lvl="1">
              <a:spcAft>
                <a:spcPts val="1200"/>
              </a:spcAft>
              <a:defRPr sz="1600"/>
            </a:pPr>
            <a:r>
              <a:t>   • Actual tracks per album after sampling: 0-2 (testing metadata trust)</a:t>
            </a:r>
          </a:p>
          <a:p>
            <a:pPr>
              <a:spcAft>
                <a:spcPts val="800"/>
              </a:spcAft>
              <a:defRPr sz="2200" b="1">
                <a:solidFill>
                  <a:srgbClr val="2ECC71"/>
                </a:solidFill>
              </a:defRPr>
            </a:pPr>
            <a:r>
              <a:t>3. Multi-Format Conversion &amp; Testing</a:t>
            </a:r>
          </a:p>
          <a:p>
            <a:pPr lvl="1">
              <a:spcAft>
                <a:spcPts val="400"/>
              </a:spcAft>
              <a:defRPr sz="1600"/>
            </a:pPr>
            <a:r>
              <a:t>   • Converted sampled data to 4 formats: CSV (41KB), HTML (168KB), JSON (173KB), XML (211KB)</a:t>
            </a:r>
          </a:p>
          <a:p>
            <a:pPr lvl="1">
              <a:spcAft>
                <a:spcPts val="400"/>
              </a:spcAft>
              <a:defRPr sz="1600"/>
            </a:pPr>
            <a:r>
              <a:t>   • 20 benchmark questions (6 Medium, 7 Hard, 7 Extremely Hard)</a:t>
            </a:r>
          </a:p>
          <a:p>
            <a:pPr lvl="1">
              <a:defRPr sz="1600"/>
            </a:pPr>
            <a:r>
              <a:t>   • Ground truth verified against NeonDB (PostgreSQL)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4495E"/>
                </a:solidFill>
              </a:defRPr>
            </a:pPr>
            <a:r>
              <a:t>Results: Perfect Format Convergence at 80%</a:t>
            </a:r>
          </a:p>
        </p:txBody>
      </p:sp>
      <p:pic>
        <p:nvPicPr>
          <p:cNvPr id="3" name="Picture 2" descr="comprehensive_benchmark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8595360" cy="3316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943600"/>
            <a:ext cx="8595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74C3C"/>
                </a:solidFill>
              </a:defRPr>
            </a:pPr>
            <a:r>
              <a:t>🔑 Key Findings:</a:t>
            </a:r>
          </a:p>
          <a:p>
            <a:pPr>
              <a:spcAft>
                <a:spcPts val="200"/>
              </a:spcAft>
              <a:defRPr sz="1300">
                <a:solidFill>
                  <a:srgbClr val="27AE60"/>
                </a:solidFill>
              </a:defRPr>
            </a:pPr>
            <a:r>
              <a:t>✓ CSV: ONLY format to correctly handle stale metadata (Q007: Jazz = 2.0) | 100% on Hard questions</a:t>
            </a:r>
          </a:p>
          <a:p>
            <a:pPr>
              <a:spcAft>
                <a:spcPts val="200"/>
              </a:spcAft>
              <a:defRPr sz="1300">
                <a:solidFill>
                  <a:srgbClr val="2980B9"/>
                </a:solidFill>
              </a:defRPr>
            </a:pPr>
            <a:r>
              <a:t>✓ XML: Biggest improvement (+15%) from 65% → 80% | HTML/JSON/XML: All used wrong aggregation (Jazz = 0.67)</a:t>
            </a:r>
          </a:p>
          <a:p>
            <a:pPr>
              <a:defRPr sz="1300">
                <a:solidFill>
                  <a:srgbClr val="8E44AD"/>
                </a:solidFill>
              </a:defRPr>
            </a:pPr>
            <a:r>
              <a:t>✓ Individual mode eliminates format advantages: All converge to 80% ceiling despite different paths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